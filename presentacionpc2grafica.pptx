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Anton" charset="1" panose="00000500000000000000"/>
      <p:regular r:id="rId20"/>
    </p:embeddedFont>
    <p:embeddedFont>
      <p:font typeface="Glacial Indifference" charset="1" panose="00000000000000000000"/>
      <p:regular r:id="rId21"/>
    </p:embeddedFont>
    <p:embeddedFont>
      <p:font typeface="Open Sans Italics" charset="1" panose="020B0606030504020204"/>
      <p:regular r:id="rId22"/>
    </p:embeddedFont>
    <p:embeddedFont>
      <p:font typeface="Open Sans" charset="1" panose="020B0606030504020204"/>
      <p:regular r:id="rId23"/>
    </p:embeddedFont>
    <p:embeddedFont>
      <p:font typeface="Open Sans Bold" charset="1" panose="020B080603050402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97570" y="5260127"/>
            <a:ext cx="4459081" cy="4459081"/>
          </a:xfrm>
          <a:custGeom>
            <a:avLst/>
            <a:gdLst/>
            <a:ahLst/>
            <a:cxnLst/>
            <a:rect r="r" b="b" t="t" l="l"/>
            <a:pathLst>
              <a:path h="4459081" w="4459081">
                <a:moveTo>
                  <a:pt x="0" y="0"/>
                </a:moveTo>
                <a:lnTo>
                  <a:pt x="4459080" y="0"/>
                </a:lnTo>
                <a:lnTo>
                  <a:pt x="4459080" y="4459081"/>
                </a:lnTo>
                <a:lnTo>
                  <a:pt x="0" y="44590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99280" y="987893"/>
            <a:ext cx="15137157" cy="410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78"/>
              </a:lnSpc>
              <a:spcBef>
                <a:spcPct val="0"/>
              </a:spcBef>
            </a:pPr>
            <a:r>
              <a:rPr lang="en-US" sz="1177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CNN aplicado a un caso de simbolos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381611"/>
            <a:ext cx="10368870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Alumnos: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Mori Malca, Jean Paul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Torres Reategui, Joaquin Marcelo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45587" y="6225103"/>
            <a:ext cx="1091175" cy="1091175"/>
          </a:xfrm>
          <a:custGeom>
            <a:avLst/>
            <a:gdLst/>
            <a:ahLst/>
            <a:cxnLst/>
            <a:rect r="r" b="b" t="t" l="l"/>
            <a:pathLst>
              <a:path h="1091175" w="1091175">
                <a:moveTo>
                  <a:pt x="0" y="0"/>
                </a:moveTo>
                <a:lnTo>
                  <a:pt x="1091174" y="0"/>
                </a:lnTo>
                <a:lnTo>
                  <a:pt x="1091174" y="1091175"/>
                </a:lnTo>
                <a:lnTo>
                  <a:pt x="0" y="10911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90517" y="2859555"/>
            <a:ext cx="5372427" cy="5372427"/>
          </a:xfrm>
          <a:custGeom>
            <a:avLst/>
            <a:gdLst/>
            <a:ahLst/>
            <a:cxnLst/>
            <a:rect r="r" b="b" t="t" l="l"/>
            <a:pathLst>
              <a:path h="5372427" w="5372427">
                <a:moveTo>
                  <a:pt x="0" y="0"/>
                </a:moveTo>
                <a:lnTo>
                  <a:pt x="5372428" y="0"/>
                </a:lnTo>
                <a:lnTo>
                  <a:pt x="5372428" y="5372428"/>
                </a:lnTo>
                <a:lnTo>
                  <a:pt x="0" y="53724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418250" y="2959659"/>
            <a:ext cx="5645509" cy="4806312"/>
          </a:xfrm>
          <a:custGeom>
            <a:avLst/>
            <a:gdLst/>
            <a:ahLst/>
            <a:cxnLst/>
            <a:rect r="r" b="b" t="t" l="l"/>
            <a:pathLst>
              <a:path h="4806312" w="5645509">
                <a:moveTo>
                  <a:pt x="0" y="0"/>
                </a:moveTo>
                <a:lnTo>
                  <a:pt x="5645509" y="0"/>
                </a:lnTo>
                <a:lnTo>
                  <a:pt x="5645509" y="4806312"/>
                </a:lnTo>
                <a:lnTo>
                  <a:pt x="0" y="48063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22259" y="876300"/>
            <a:ext cx="12208474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Caracteres Unown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02258" y="7835743"/>
            <a:ext cx="5460686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28 caracteres principales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18250" y="7835743"/>
            <a:ext cx="5460686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ejemplo de texto formado por unown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11182" y="9031216"/>
            <a:ext cx="7315200" cy="1157132"/>
          </a:xfrm>
          <a:custGeom>
            <a:avLst/>
            <a:gdLst/>
            <a:ahLst/>
            <a:cxnLst/>
            <a:rect r="r" b="b" t="t" l="l"/>
            <a:pathLst>
              <a:path h="1157132" w="7315200">
                <a:moveTo>
                  <a:pt x="0" y="0"/>
                </a:moveTo>
                <a:lnTo>
                  <a:pt x="7315200" y="0"/>
                </a:lnTo>
                <a:lnTo>
                  <a:pt x="7315200" y="1157131"/>
                </a:lnTo>
                <a:lnTo>
                  <a:pt x="0" y="1157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17348" y="2813815"/>
            <a:ext cx="5960293" cy="5049693"/>
          </a:xfrm>
          <a:custGeom>
            <a:avLst/>
            <a:gdLst/>
            <a:ahLst/>
            <a:cxnLst/>
            <a:rect r="r" b="b" t="t" l="l"/>
            <a:pathLst>
              <a:path h="5049693" w="5960293">
                <a:moveTo>
                  <a:pt x="0" y="0"/>
                </a:moveTo>
                <a:lnTo>
                  <a:pt x="5960293" y="0"/>
                </a:lnTo>
                <a:lnTo>
                  <a:pt x="5960293" y="5049692"/>
                </a:lnTo>
                <a:lnTo>
                  <a:pt x="0" y="5049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76300"/>
            <a:ext cx="11910300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Descifrando los simbolos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14930" y="2602365"/>
            <a:ext cx="1885395" cy="2113300"/>
          </a:xfrm>
          <a:custGeom>
            <a:avLst/>
            <a:gdLst/>
            <a:ahLst/>
            <a:cxnLst/>
            <a:rect r="r" b="b" t="t" l="l"/>
            <a:pathLst>
              <a:path h="2113300" w="1885395">
                <a:moveTo>
                  <a:pt x="0" y="0"/>
                </a:moveTo>
                <a:lnTo>
                  <a:pt x="1885395" y="0"/>
                </a:lnTo>
                <a:lnTo>
                  <a:pt x="1885395" y="2113300"/>
                </a:lnTo>
                <a:lnTo>
                  <a:pt x="0" y="21133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462584" y="2897736"/>
            <a:ext cx="1450791" cy="1033172"/>
            <a:chOff x="0" y="0"/>
            <a:chExt cx="825812" cy="5880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5812" cy="588097"/>
            </a:xfrm>
            <a:custGeom>
              <a:avLst/>
              <a:gdLst/>
              <a:ahLst/>
              <a:cxnLst/>
              <a:rect r="r" b="b" t="t" l="l"/>
              <a:pathLst>
                <a:path h="588097" w="825812">
                  <a:moveTo>
                    <a:pt x="825812" y="294048"/>
                  </a:moveTo>
                  <a:lnTo>
                    <a:pt x="419412" y="0"/>
                  </a:lnTo>
                  <a:lnTo>
                    <a:pt x="419412" y="203200"/>
                  </a:lnTo>
                  <a:lnTo>
                    <a:pt x="0" y="203200"/>
                  </a:lnTo>
                  <a:lnTo>
                    <a:pt x="0" y="384897"/>
                  </a:lnTo>
                  <a:lnTo>
                    <a:pt x="419412" y="384897"/>
                  </a:lnTo>
                  <a:lnTo>
                    <a:pt x="419412" y="588097"/>
                  </a:lnTo>
                  <a:lnTo>
                    <a:pt x="825812" y="29404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65100"/>
              <a:ext cx="724212" cy="219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214930" y="5143500"/>
            <a:ext cx="1885395" cy="2267247"/>
          </a:xfrm>
          <a:custGeom>
            <a:avLst/>
            <a:gdLst/>
            <a:ahLst/>
            <a:cxnLst/>
            <a:rect r="r" b="b" t="t" l="l"/>
            <a:pathLst>
              <a:path h="2267247" w="1885395">
                <a:moveTo>
                  <a:pt x="0" y="0"/>
                </a:moveTo>
                <a:lnTo>
                  <a:pt x="1885395" y="0"/>
                </a:lnTo>
                <a:lnTo>
                  <a:pt x="1885395" y="2267247"/>
                </a:lnTo>
                <a:lnTo>
                  <a:pt x="0" y="22672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3462584" y="5451960"/>
            <a:ext cx="1450791" cy="1033172"/>
            <a:chOff x="0" y="0"/>
            <a:chExt cx="825812" cy="5880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25812" cy="588097"/>
            </a:xfrm>
            <a:custGeom>
              <a:avLst/>
              <a:gdLst/>
              <a:ahLst/>
              <a:cxnLst/>
              <a:rect r="r" b="b" t="t" l="l"/>
              <a:pathLst>
                <a:path h="588097" w="825812">
                  <a:moveTo>
                    <a:pt x="825812" y="294048"/>
                  </a:moveTo>
                  <a:lnTo>
                    <a:pt x="419412" y="0"/>
                  </a:lnTo>
                  <a:lnTo>
                    <a:pt x="419412" y="203200"/>
                  </a:lnTo>
                  <a:lnTo>
                    <a:pt x="0" y="203200"/>
                  </a:lnTo>
                  <a:lnTo>
                    <a:pt x="0" y="384897"/>
                  </a:lnTo>
                  <a:lnTo>
                    <a:pt x="419412" y="384897"/>
                  </a:lnTo>
                  <a:lnTo>
                    <a:pt x="419412" y="588097"/>
                  </a:lnTo>
                  <a:lnTo>
                    <a:pt x="825812" y="29404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65100"/>
              <a:ext cx="724212" cy="219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427983" y="2922825"/>
            <a:ext cx="411400" cy="878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66"/>
              </a:lnSpc>
            </a:pPr>
            <a:r>
              <a:rPr lang="en-US" sz="511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418124" y="5477049"/>
            <a:ext cx="421259" cy="878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66"/>
              </a:lnSpc>
            </a:pPr>
            <a:r>
              <a:rPr lang="en-US" sz="511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7646338"/>
            <a:ext cx="5460686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mapeo de los caracteres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67151" y="8004477"/>
            <a:ext cx="5460686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mapeo completo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85138" y="3471464"/>
            <a:ext cx="9113587" cy="3461750"/>
          </a:xfrm>
          <a:custGeom>
            <a:avLst/>
            <a:gdLst/>
            <a:ahLst/>
            <a:cxnLst/>
            <a:rect r="r" b="b" t="t" l="l"/>
            <a:pathLst>
              <a:path h="3461750" w="9113587">
                <a:moveTo>
                  <a:pt x="0" y="0"/>
                </a:moveTo>
                <a:lnTo>
                  <a:pt x="9113587" y="0"/>
                </a:lnTo>
                <a:lnTo>
                  <a:pt x="9113587" y="3461750"/>
                </a:lnTo>
                <a:lnTo>
                  <a:pt x="0" y="3461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67877" y="7112081"/>
            <a:ext cx="5460686" cy="81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“Our words shall remain here for the ages”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32569" y="797848"/>
            <a:ext cx="11910300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Ejemplo descifrado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99466" y="4473833"/>
            <a:ext cx="6771706" cy="5101741"/>
          </a:xfrm>
          <a:custGeom>
            <a:avLst/>
            <a:gdLst/>
            <a:ahLst/>
            <a:cxnLst/>
            <a:rect r="r" b="b" t="t" l="l"/>
            <a:pathLst>
              <a:path h="5101741" w="6771706">
                <a:moveTo>
                  <a:pt x="0" y="0"/>
                </a:moveTo>
                <a:lnTo>
                  <a:pt x="6771705" y="0"/>
                </a:lnTo>
                <a:lnTo>
                  <a:pt x="6771705" y="5101741"/>
                </a:lnTo>
                <a:lnTo>
                  <a:pt x="0" y="51017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32569" y="797848"/>
            <a:ext cx="11910300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Objetivo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32569" y="2544703"/>
            <a:ext cx="13479807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Desarrollar un programa que procese un dibujo de entrada del usuario y permita clasificarlo segun qué forma de unown es, mediante el uso de una red neuronal convolucional.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5324" y="2644388"/>
            <a:ext cx="6242705" cy="4321873"/>
          </a:xfrm>
          <a:custGeom>
            <a:avLst/>
            <a:gdLst/>
            <a:ahLst/>
            <a:cxnLst/>
            <a:rect r="r" b="b" t="t" l="l"/>
            <a:pathLst>
              <a:path h="4321873" w="6242705">
                <a:moveTo>
                  <a:pt x="0" y="0"/>
                </a:moveTo>
                <a:lnTo>
                  <a:pt x="6242706" y="0"/>
                </a:lnTo>
                <a:lnTo>
                  <a:pt x="6242706" y="4321873"/>
                </a:lnTo>
                <a:lnTo>
                  <a:pt x="0" y="43218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69776" y="2855077"/>
            <a:ext cx="1644218" cy="1784717"/>
          </a:xfrm>
          <a:custGeom>
            <a:avLst/>
            <a:gdLst/>
            <a:ahLst/>
            <a:cxnLst/>
            <a:rect r="r" b="b" t="t" l="l"/>
            <a:pathLst>
              <a:path h="1784717" w="1644218">
                <a:moveTo>
                  <a:pt x="0" y="0"/>
                </a:moveTo>
                <a:lnTo>
                  <a:pt x="1644217" y="0"/>
                </a:lnTo>
                <a:lnTo>
                  <a:pt x="1644217" y="1784716"/>
                </a:lnTo>
                <a:lnTo>
                  <a:pt x="0" y="17847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546840" y="2855077"/>
            <a:ext cx="1784833" cy="1712279"/>
          </a:xfrm>
          <a:custGeom>
            <a:avLst/>
            <a:gdLst/>
            <a:ahLst/>
            <a:cxnLst/>
            <a:rect r="r" b="b" t="t" l="l"/>
            <a:pathLst>
              <a:path h="1712279" w="1784833">
                <a:moveTo>
                  <a:pt x="0" y="0"/>
                </a:moveTo>
                <a:lnTo>
                  <a:pt x="1784833" y="0"/>
                </a:lnTo>
                <a:lnTo>
                  <a:pt x="1784833" y="1712279"/>
                </a:lnTo>
                <a:lnTo>
                  <a:pt x="0" y="1712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60298" y="2855077"/>
            <a:ext cx="1830782" cy="1676662"/>
          </a:xfrm>
          <a:custGeom>
            <a:avLst/>
            <a:gdLst/>
            <a:ahLst/>
            <a:cxnLst/>
            <a:rect r="r" b="b" t="t" l="l"/>
            <a:pathLst>
              <a:path h="1676662" w="1830782">
                <a:moveTo>
                  <a:pt x="0" y="0"/>
                </a:moveTo>
                <a:lnTo>
                  <a:pt x="1830783" y="0"/>
                </a:lnTo>
                <a:lnTo>
                  <a:pt x="1830783" y="1676662"/>
                </a:lnTo>
                <a:lnTo>
                  <a:pt x="0" y="16766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606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350724" y="5045434"/>
            <a:ext cx="1670483" cy="1670483"/>
          </a:xfrm>
          <a:custGeom>
            <a:avLst/>
            <a:gdLst/>
            <a:ahLst/>
            <a:cxnLst/>
            <a:rect r="r" b="b" t="t" l="l"/>
            <a:pathLst>
              <a:path h="1670483" w="1670483">
                <a:moveTo>
                  <a:pt x="0" y="0"/>
                </a:moveTo>
                <a:lnTo>
                  <a:pt x="1670483" y="0"/>
                </a:lnTo>
                <a:lnTo>
                  <a:pt x="1670483" y="1670484"/>
                </a:lnTo>
                <a:lnTo>
                  <a:pt x="0" y="16704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692062" y="5045434"/>
            <a:ext cx="1630898" cy="1670483"/>
          </a:xfrm>
          <a:custGeom>
            <a:avLst/>
            <a:gdLst/>
            <a:ahLst/>
            <a:cxnLst/>
            <a:rect r="r" b="b" t="t" l="l"/>
            <a:pathLst>
              <a:path h="1670483" w="1630898">
                <a:moveTo>
                  <a:pt x="0" y="0"/>
                </a:moveTo>
                <a:lnTo>
                  <a:pt x="1630899" y="0"/>
                </a:lnTo>
                <a:lnTo>
                  <a:pt x="1630899" y="1670484"/>
                </a:lnTo>
                <a:lnTo>
                  <a:pt x="0" y="16704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81602" y="562490"/>
            <a:ext cx="11910300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Dataset desarrollado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06334" y="7092468"/>
            <a:ext cx="5460686" cy="81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Adaptamos las 5 primeras categorias, 100 por cada una a mano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290864" y="6928161"/>
            <a:ext cx="5460686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Algunos ejemplos a mano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69403" y="2409981"/>
            <a:ext cx="7566926" cy="6055430"/>
          </a:xfrm>
          <a:custGeom>
            <a:avLst/>
            <a:gdLst/>
            <a:ahLst/>
            <a:cxnLst/>
            <a:rect r="r" b="b" t="t" l="l"/>
            <a:pathLst>
              <a:path h="6055430" w="7566926">
                <a:moveTo>
                  <a:pt x="0" y="0"/>
                </a:moveTo>
                <a:lnTo>
                  <a:pt x="7566926" y="0"/>
                </a:lnTo>
                <a:lnTo>
                  <a:pt x="7566926" y="6055431"/>
                </a:lnTo>
                <a:lnTo>
                  <a:pt x="0" y="6055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81602" y="562490"/>
            <a:ext cx="11910300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Extension del dataset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315508" y="2343306"/>
            <a:ext cx="6595606" cy="3462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En lugar de aplicar rotaciones simples se combinaron transformaciones elásticas no lineales para imitar el temblor del pulso, dilataciones y erosiones para variar la presión de la tinta, y oclusiones aleatorias con CoarseDropout para emular discontinuidades en el trazo.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05801" y="3236317"/>
            <a:ext cx="9020097" cy="3050528"/>
          </a:xfrm>
          <a:custGeom>
            <a:avLst/>
            <a:gdLst/>
            <a:ahLst/>
            <a:cxnLst/>
            <a:rect r="r" b="b" t="t" l="l"/>
            <a:pathLst>
              <a:path h="3050528" w="9020097">
                <a:moveTo>
                  <a:pt x="0" y="0"/>
                </a:moveTo>
                <a:lnTo>
                  <a:pt x="9020097" y="0"/>
                </a:lnTo>
                <a:lnTo>
                  <a:pt x="9020097" y="3050528"/>
                </a:lnTo>
                <a:lnTo>
                  <a:pt x="0" y="30505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26766" y="3182189"/>
            <a:ext cx="1439521" cy="1439521"/>
          </a:xfrm>
          <a:custGeom>
            <a:avLst/>
            <a:gdLst/>
            <a:ahLst/>
            <a:cxnLst/>
            <a:rect r="r" b="b" t="t" l="l"/>
            <a:pathLst>
              <a:path h="1439521" w="1439521">
                <a:moveTo>
                  <a:pt x="0" y="0"/>
                </a:moveTo>
                <a:lnTo>
                  <a:pt x="1439521" y="0"/>
                </a:lnTo>
                <a:lnTo>
                  <a:pt x="1439521" y="1439521"/>
                </a:lnTo>
                <a:lnTo>
                  <a:pt x="0" y="14395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224817" y="3182189"/>
            <a:ext cx="1449781" cy="1449781"/>
          </a:xfrm>
          <a:custGeom>
            <a:avLst/>
            <a:gdLst/>
            <a:ahLst/>
            <a:cxnLst/>
            <a:rect r="r" b="b" t="t" l="l"/>
            <a:pathLst>
              <a:path h="1449781" w="1449781">
                <a:moveTo>
                  <a:pt x="0" y="0"/>
                </a:moveTo>
                <a:lnTo>
                  <a:pt x="1449781" y="0"/>
                </a:lnTo>
                <a:lnTo>
                  <a:pt x="1449781" y="1449781"/>
                </a:lnTo>
                <a:lnTo>
                  <a:pt x="0" y="14497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35857" y="3236317"/>
            <a:ext cx="1395653" cy="1395653"/>
          </a:xfrm>
          <a:custGeom>
            <a:avLst/>
            <a:gdLst/>
            <a:ahLst/>
            <a:cxnLst/>
            <a:rect r="r" b="b" t="t" l="l"/>
            <a:pathLst>
              <a:path h="1395653" w="1395653">
                <a:moveTo>
                  <a:pt x="0" y="0"/>
                </a:moveTo>
                <a:lnTo>
                  <a:pt x="1395653" y="0"/>
                </a:lnTo>
                <a:lnTo>
                  <a:pt x="1395653" y="1395653"/>
                </a:lnTo>
                <a:lnTo>
                  <a:pt x="0" y="13956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038224" y="5143500"/>
            <a:ext cx="1533137" cy="1533137"/>
          </a:xfrm>
          <a:custGeom>
            <a:avLst/>
            <a:gdLst/>
            <a:ahLst/>
            <a:cxnLst/>
            <a:rect r="r" b="b" t="t" l="l"/>
            <a:pathLst>
              <a:path h="1533137" w="1533137">
                <a:moveTo>
                  <a:pt x="0" y="0"/>
                </a:moveTo>
                <a:lnTo>
                  <a:pt x="1533137" y="0"/>
                </a:lnTo>
                <a:lnTo>
                  <a:pt x="1533137" y="1533137"/>
                </a:lnTo>
                <a:lnTo>
                  <a:pt x="0" y="15331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333244" y="5143500"/>
            <a:ext cx="1569182" cy="1569182"/>
          </a:xfrm>
          <a:custGeom>
            <a:avLst/>
            <a:gdLst/>
            <a:ahLst/>
            <a:cxnLst/>
            <a:rect r="r" b="b" t="t" l="l"/>
            <a:pathLst>
              <a:path h="1569182" w="1569182">
                <a:moveTo>
                  <a:pt x="0" y="0"/>
                </a:moveTo>
                <a:lnTo>
                  <a:pt x="1569181" y="0"/>
                </a:lnTo>
                <a:lnTo>
                  <a:pt x="1569181" y="1569182"/>
                </a:lnTo>
                <a:lnTo>
                  <a:pt x="0" y="15691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81602" y="562490"/>
            <a:ext cx="11910300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Extension del dataset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3981" y="6957581"/>
            <a:ext cx="5460686" cy="1234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ejemplos del dataset extendido, con alrededor de 400 por categoria se llegan a los 500 en total por cada una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07503" y="6459467"/>
            <a:ext cx="5460686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Correccion del color de trazo y fondo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42098" y="2599666"/>
            <a:ext cx="5409821" cy="6503530"/>
          </a:xfrm>
          <a:custGeom>
            <a:avLst/>
            <a:gdLst/>
            <a:ahLst/>
            <a:cxnLst/>
            <a:rect r="r" b="b" t="t" l="l"/>
            <a:pathLst>
              <a:path h="6503530" w="5409821">
                <a:moveTo>
                  <a:pt x="0" y="0"/>
                </a:moveTo>
                <a:lnTo>
                  <a:pt x="5409822" y="0"/>
                </a:lnTo>
                <a:lnTo>
                  <a:pt x="5409822" y="6503530"/>
                </a:lnTo>
                <a:lnTo>
                  <a:pt x="0" y="65035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2182" y="552684"/>
            <a:ext cx="11910300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Red neuronal propuesta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211549"/>
            <a:ext cx="6595606" cy="593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 trata de una red CNN adaptada del modelo VGG.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Principalmente adaptado para entradas de imagenes de 64x64x1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Primera componente: bloque extractor de cuatro etapas convolucionales con normalización por lotes y max-pooling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Segunda componente: clasificador denso protegido con regularización por Dropout que mapea ese resumen visual hacia las probabilidades de pertenencia entre las letras 'A' y 'E'."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73864" y="2143394"/>
            <a:ext cx="4657395" cy="817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38"/>
              </a:lnSpc>
            </a:pPr>
            <a:r>
              <a:rPr lang="en-US" sz="4741" b="true">
                <a:solidFill>
                  <a:srgbClr val="2D59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Caracteristicas: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02687" y="2137632"/>
            <a:ext cx="8309707" cy="5928205"/>
          </a:xfrm>
          <a:custGeom>
            <a:avLst/>
            <a:gdLst/>
            <a:ahLst/>
            <a:cxnLst/>
            <a:rect r="r" b="b" t="t" l="l"/>
            <a:pathLst>
              <a:path h="5928205" w="8309707">
                <a:moveTo>
                  <a:pt x="0" y="0"/>
                </a:moveTo>
                <a:lnTo>
                  <a:pt x="8309708" y="0"/>
                </a:lnTo>
                <a:lnTo>
                  <a:pt x="8309708" y="5928205"/>
                </a:lnTo>
                <a:lnTo>
                  <a:pt x="0" y="59282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2182" y="552684"/>
            <a:ext cx="12596759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Comparativa con otra variante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57396" y="8244260"/>
            <a:ext cx="5460686" cy="81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Comparativa VGG-19 vs modelo propuesto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84009" y="8879545"/>
            <a:ext cx="4407982" cy="1407455"/>
          </a:xfrm>
          <a:custGeom>
            <a:avLst/>
            <a:gdLst/>
            <a:ahLst/>
            <a:cxnLst/>
            <a:rect r="r" b="b" t="t" l="l"/>
            <a:pathLst>
              <a:path h="1407455" w="4407982">
                <a:moveTo>
                  <a:pt x="0" y="0"/>
                </a:moveTo>
                <a:lnTo>
                  <a:pt x="4407982" y="0"/>
                </a:lnTo>
                <a:lnTo>
                  <a:pt x="4407982" y="1407455"/>
                </a:lnTo>
                <a:lnTo>
                  <a:pt x="0" y="14074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3284" y="2653727"/>
            <a:ext cx="6447197" cy="5524442"/>
          </a:xfrm>
          <a:custGeom>
            <a:avLst/>
            <a:gdLst/>
            <a:ahLst/>
            <a:cxnLst/>
            <a:rect r="r" b="b" t="t" l="l"/>
            <a:pathLst>
              <a:path h="5524442" w="6447197">
                <a:moveTo>
                  <a:pt x="0" y="0"/>
                </a:moveTo>
                <a:lnTo>
                  <a:pt x="6447196" y="0"/>
                </a:lnTo>
                <a:lnTo>
                  <a:pt x="6447196" y="5524442"/>
                </a:lnTo>
                <a:lnTo>
                  <a:pt x="0" y="55244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466205" y="2996956"/>
            <a:ext cx="9548576" cy="3980562"/>
          </a:xfrm>
          <a:custGeom>
            <a:avLst/>
            <a:gdLst/>
            <a:ahLst/>
            <a:cxnLst/>
            <a:rect r="r" b="b" t="t" l="l"/>
            <a:pathLst>
              <a:path h="3980562" w="9548576">
                <a:moveTo>
                  <a:pt x="0" y="0"/>
                </a:moveTo>
                <a:lnTo>
                  <a:pt x="9548576" y="0"/>
                </a:lnTo>
                <a:lnTo>
                  <a:pt x="9548576" y="3980563"/>
                </a:lnTo>
                <a:lnTo>
                  <a:pt x="0" y="39805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52182" y="768428"/>
            <a:ext cx="12537920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Metricas del entrenamiento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65522" y="7131694"/>
            <a:ext cx="5460686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Evolucion de pérdida y exactitud global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66471" y="8343202"/>
            <a:ext cx="5460686" cy="81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Matriz de confusion- La letra “D” arroja más indices de falsos positivos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99884" y="2568134"/>
            <a:ext cx="4074637" cy="6445197"/>
          </a:xfrm>
          <a:custGeom>
            <a:avLst/>
            <a:gdLst/>
            <a:ahLst/>
            <a:cxnLst/>
            <a:rect r="r" b="b" t="t" l="l"/>
            <a:pathLst>
              <a:path h="6445197" w="4074637">
                <a:moveTo>
                  <a:pt x="0" y="0"/>
                </a:moveTo>
                <a:lnTo>
                  <a:pt x="4074637" y="0"/>
                </a:lnTo>
                <a:lnTo>
                  <a:pt x="4074637" y="6445197"/>
                </a:lnTo>
                <a:lnTo>
                  <a:pt x="0" y="6445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6242" y="2965355"/>
            <a:ext cx="6416062" cy="2328703"/>
          </a:xfrm>
          <a:custGeom>
            <a:avLst/>
            <a:gdLst/>
            <a:ahLst/>
            <a:cxnLst/>
            <a:rect r="r" b="b" t="t" l="l"/>
            <a:pathLst>
              <a:path h="2328703" w="6416062">
                <a:moveTo>
                  <a:pt x="0" y="0"/>
                </a:moveTo>
                <a:lnTo>
                  <a:pt x="6416062" y="0"/>
                </a:lnTo>
                <a:lnTo>
                  <a:pt x="6416062" y="2328703"/>
                </a:lnTo>
                <a:lnTo>
                  <a:pt x="0" y="23287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91408" y="748815"/>
            <a:ext cx="12537920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Resultados del entrenamiento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99682" y="5453333"/>
            <a:ext cx="5460686" cy="81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Metricas globales - el modelo alcanza alrededor del 78.42% de exactitud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62237" y="9155706"/>
            <a:ext cx="5460686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Metricas por clasificacion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83670" y="1094261"/>
            <a:ext cx="5608578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Conclusiones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87539" y="2681995"/>
            <a:ext cx="12312827" cy="6434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 demuestra que es viable entrenar un clasificador supervisado sin necesidad de recolectar manualmente miles de muestras.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 red demostró ser computacionalmente ligera y adecuada para imágenes monocromáticas de 64x64 pixeles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Las curvas de pérdida y exactitud alcanzaron una convergencia estable en apenas 10 épocas. La brecha de generalización entre el entrenamiento (84%) y la prueba (78.42%) fue de solo ~5.6 puntos porcentuales.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 métrica de Top-3 Accuracy alcanzó el 89.79% (~90%), asegurando que en 9 de cada 10 intentos el glifo dibujado a mano alzada se encuentre entre las tres alternativas sugeridas al usuario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Las clases A, C y E alcanzaron una clasificacion sobresaliente con precisiones superiores al 96%. Sin embargo, la clase 'D' exhibió un  un recall casi perfecto del 95.15% frente a una precisión de solo 51.85%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74913" y="5505629"/>
            <a:ext cx="3115245" cy="3115245"/>
          </a:xfrm>
          <a:custGeom>
            <a:avLst/>
            <a:gdLst/>
            <a:ahLst/>
            <a:cxnLst/>
            <a:rect r="r" b="b" t="t" l="l"/>
            <a:pathLst>
              <a:path h="3115245" w="3115245">
                <a:moveTo>
                  <a:pt x="0" y="0"/>
                </a:moveTo>
                <a:lnTo>
                  <a:pt x="3115246" y="0"/>
                </a:lnTo>
                <a:lnTo>
                  <a:pt x="3115246" y="3115245"/>
                </a:lnTo>
                <a:lnTo>
                  <a:pt x="0" y="31152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39581" y="1690929"/>
            <a:ext cx="6950553" cy="2796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83"/>
              </a:lnSpc>
              <a:spcBef>
                <a:spcPct val="0"/>
              </a:spcBef>
            </a:pPr>
            <a:r>
              <a:rPr lang="en-US" sz="16345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DAHYI-eZvd4</dc:identifier>
  <dcterms:modified xsi:type="dcterms:W3CDTF">2011-08-01T06:04:30Z</dcterms:modified>
  <cp:revision>1</cp:revision>
  <dc:title>presentacionpc2grafica</dc:title>
</cp:coreProperties>
</file>